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/>
              <a:t>Series B Fundraising — Board Update Q2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Nexus Software Inc.  |  Confidential</a:t>
            </a:r>
          </a:p>
          <a:p>
            <a:r>
              <a:rPr sz="1300"/>
              <a:t>May 2026  |  Board of Directors Meeting</a:t>
            </a:r>
          </a:p>
          <a:p>
            <a:r>
              <a:rPr sz="1300"/>
              <a:t>Presenter: Priya Sharma, CEO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/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Q2 Business Highlights</a:t>
            </a:r>
          </a:p>
          <a:p>
            <a:r>
              <a:rPr sz="1300"/>
              <a:t>2. ARR &amp; Revenue Performance</a:t>
            </a:r>
          </a:p>
          <a:p>
            <a:r>
              <a:rPr sz="1300"/>
              <a:t>3. Product Milestones</a:t>
            </a:r>
          </a:p>
          <a:p>
            <a:r>
              <a:rPr sz="1300"/>
              <a:t>4. GTM Traction &amp; Pipeline</a:t>
            </a:r>
          </a:p>
          <a:p>
            <a:r>
              <a:rPr sz="1300"/>
              <a:t>5. Series B Strategy &amp; Use of Funds</a:t>
            </a:r>
          </a:p>
          <a:p>
            <a:r>
              <a:rPr sz="1300"/>
              <a:t>6. 18-Month Financial Plan</a:t>
            </a:r>
          </a:p>
          <a:p>
            <a:r>
              <a:rPr sz="1300"/>
              <a:t>7. Key Risks &amp; Mitigations</a:t>
            </a:r>
          </a:p>
          <a:p>
            <a:r>
              <a:rPr sz="1300"/>
              <a:t>8. Board Asks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/>
              <a:t>Q2 2026 Highlights — Record Quarter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ARR: $47.1M (+138% YoY)  |  Net New ARR: $8.4M (best quarter ever)</a:t>
            </a:r>
          </a:p>
          <a:p>
            <a:r>
              <a:rPr sz="1300"/>
              <a:t>NRR: 118%  |  Gross Margin: 74%  |  CAC Payback: 14 months</a:t>
            </a:r>
          </a:p>
          <a:p>
            <a:r>
              <a:rPr sz="1300"/>
              <a:t>New Logos: 24 (incl. 3 Fortune 500 accounts — GE Healthcare, Citi, Boeing)</a:t>
            </a:r>
          </a:p>
          <a:p>
            <a:r>
              <a:rPr sz="1300"/>
              <a:t>Product: v3.2 GA shipped; SOC 2 Type II renewed; ISO 27001 in progress</a:t>
            </a:r>
          </a:p>
          <a:p>
            <a:r>
              <a:rPr sz="1300"/>
              <a:t>Team: 89 FTEs (from 61 in Q4-25); VP Engineering and CRO hired</a:t>
            </a:r>
          </a:p>
          <a:p>
            <a:r>
              <a:rPr sz="1300"/>
              <a:t>Pipeline: $32M qualified pipeline; 8 deals &gt;$500K ACV in final stages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/>
              <a:t>ARR Growth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ARR ($ millions):</a:t>
            </a:r>
          </a:p>
          <a:p>
            <a:r>
              <a:rPr sz="1300"/>
              <a:t>  Jan-25: $18.4M    |    Jun-25: $29.8M    |    Dec-25: $38.7M</a:t>
            </a:r>
          </a:p>
          <a:p>
            <a:r>
              <a:rPr sz="1300"/>
              <a:t>  Mar-26: $43.2M    |    Jun-26: $47.1M (projected: $50.0M)</a:t>
            </a:r>
          </a:p>
          <a:p/>
          <a:p>
            <a:r>
              <a:rPr sz="1300"/>
              <a:t>Net Revenue Retention by cohort:</a:t>
            </a:r>
          </a:p>
          <a:p>
            <a:r>
              <a:rPr sz="1300"/>
              <a:t>  2023 cohort: 124%  |  2024 cohort: 119%  |  2025 cohort: 116% (annualised)</a:t>
            </a:r>
          </a:p>
          <a:p/>
          <a:p>
            <a:r>
              <a:rPr sz="1300"/>
              <a:t>Revenue Mix: 82% subscription / 18% professional services</a:t>
            </a:r>
          </a:p>
          <a:p>
            <a:r>
              <a:rPr sz="1300"/>
              <a:t>Enterprise (&gt;$100K ACV): 48% of ARR (up from 31% in Q2-25)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/>
              <a:t>Product — v3.2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v3.2 Released April 2026:</a:t>
            </a:r>
          </a:p>
          <a:p>
            <a:r>
              <a:rPr sz="1300"/>
              <a:t>  - Hybrid RAG pipeline with BM25 + ANN fusion (latency: 87ms p95)</a:t>
            </a:r>
          </a:p>
          <a:p>
            <a:r>
              <a:rPr sz="1300"/>
              <a:t>  - Multi-modal ingestion: PDF, DOCX, XLSX, PPTX, HTML</a:t>
            </a:r>
          </a:p>
          <a:p>
            <a:r>
              <a:rPr sz="1300"/>
              <a:t>  - LLM-graded semantic verification (L2) with Claude integration</a:t>
            </a:r>
          </a:p>
          <a:p>
            <a:r>
              <a:rPr sz="1300"/>
              <a:t>  - Enterprise SSO: Okta, Azure AD, Google Workspace</a:t>
            </a:r>
          </a:p>
          <a:p>
            <a:r>
              <a:rPr sz="1300"/>
              <a:t>  - HIPAA BAA now available; FedRAMP Moderate in assessment</a:t>
            </a:r>
          </a:p>
          <a:p/>
          <a:p>
            <a:r>
              <a:rPr sz="1300"/>
              <a:t>H2 2026 Roadmap (board approval requested):</a:t>
            </a:r>
          </a:p>
          <a:p>
            <a:r>
              <a:rPr sz="1300"/>
              <a:t>  - Real-time collaborative annotations (Q3)</a:t>
            </a:r>
          </a:p>
          <a:p>
            <a:r>
              <a:rPr sz="1300"/>
              <a:t>  - Graph-based retrieval (Q3)</a:t>
            </a:r>
          </a:p>
          <a:p>
            <a:r>
              <a:rPr sz="1300"/>
              <a:t>  - On-premises deployment option for air-gapped customers (Q4)</a:t>
            </a:r>
          </a:p>
          <a:p>
            <a:r>
              <a:rPr sz="1300"/>
              <a:t>  - Multi-tenancy isolation improvements (Q4)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/>
              <a:t>GTM — Pipeline &amp;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Sales Pipeline (as of May 17, 2026):</a:t>
            </a:r>
          </a:p>
          <a:p>
            <a:r>
              <a:rPr sz="1300"/>
              <a:t>  Stage 1 Discovery: 142 opps ($18.2M)   |  Stage 2 Demo: 67 ($11.4M)</a:t>
            </a:r>
          </a:p>
          <a:p>
            <a:r>
              <a:rPr sz="1300"/>
              <a:t>  Stage 3 Proposal: 31 ($7.8M)   |   Stage 4 Negotiation: 8 ($4.6M)</a:t>
            </a:r>
          </a:p>
          <a:p>
            <a:r>
              <a:rPr sz="1300"/>
              <a:t>  Weighted Pipeline: $22.3M  |  Coverage ratio: 3.2x vs $7M target</a:t>
            </a:r>
          </a:p>
          <a:p/>
          <a:p>
            <a:r>
              <a:rPr sz="1300"/>
              <a:t>Key Wins Q2:</a:t>
            </a:r>
          </a:p>
          <a:p>
            <a:r>
              <a:rPr sz="1300"/>
              <a:t>  - GE Healthcare: $1.2M ACV (3-yr) — clinical document intelligence</a:t>
            </a:r>
          </a:p>
          <a:p>
            <a:r>
              <a:rPr sz="1300"/>
              <a:t>  - Citi: $840K ACV — regulatory filing automation</a:t>
            </a:r>
          </a:p>
          <a:p>
            <a:r>
              <a:rPr sz="1300"/>
              <a:t>  - Boeing: $620K ACV — technical manual search</a:t>
            </a:r>
          </a:p>
          <a:p/>
          <a:p>
            <a:r>
              <a:rPr sz="1300"/>
              <a:t>Expansion Highlights: 14 upsell/cross-sell deals totalling $2.1M net new ARR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/>
              <a:t>Series B — Strategy &amp;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Target Raise: $50M Series B</a:t>
            </a:r>
          </a:p>
          <a:p>
            <a:r>
              <a:rPr sz="1300"/>
              <a:t>Valuation: $310M pre-money (6.6x ARR at $47.1M)</a:t>
            </a:r>
          </a:p>
          <a:p>
            <a:r>
              <a:rPr sz="1300"/>
              <a:t>Lead Investor: Andreessen Horowitz (term sheet signed)</a:t>
            </a:r>
          </a:p>
          <a:p>
            <a:r>
              <a:rPr sz="1300"/>
              <a:t>Follow-on: Existing investors Sequoia and Founders Fund (pro-rata)</a:t>
            </a:r>
          </a:p>
          <a:p/>
          <a:p>
            <a:r>
              <a:rPr sz="1300"/>
              <a:t>Use of Funds:</a:t>
            </a:r>
          </a:p>
          <a:p>
            <a:r>
              <a:rPr sz="1300"/>
              <a:t>  40% Product &amp; Engineering (30 hires, infra, security certs)</a:t>
            </a:r>
          </a:p>
          <a:p>
            <a:r>
              <a:rPr sz="1300"/>
              <a:t>  35% Sales &amp; Marketing (20 AE hires, demand gen, events)</a:t>
            </a:r>
          </a:p>
          <a:p>
            <a:r>
              <a:rPr sz="1300"/>
              <a:t>  15% Customer Success &amp; Professional Services</a:t>
            </a:r>
          </a:p>
          <a:p>
            <a:r>
              <a:rPr sz="1300"/>
              <a:t>  10% G&amp;A, Legal, Working Capital</a:t>
            </a:r>
          </a:p>
          <a:p/>
          <a:p>
            <a:r>
              <a:rPr sz="1300"/>
              <a:t>Runway: 22 months to Series C or profitability gate at $85M ARR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/>
              <a:t>18-Month Financial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Revenue Plan (base case):</a:t>
            </a:r>
          </a:p>
          <a:p>
            <a:r>
              <a:rPr sz="1300"/>
              <a:t>  Q3-26: $13.9M  |  Q4-26: $16.2M  |  FY-26: $53.4M</a:t>
            </a:r>
          </a:p>
          <a:p>
            <a:r>
              <a:rPr sz="1300"/>
              <a:t>  Q1-27: $18.8M  |  Q2-27: $21.9M  |  H1-27: $40.7M</a:t>
            </a:r>
          </a:p>
          <a:p/>
          <a:p>
            <a:r>
              <a:rPr sz="1300"/>
              <a:t>Key Assumptions:</a:t>
            </a:r>
          </a:p>
          <a:p>
            <a:r>
              <a:rPr sz="1300"/>
              <a:t>  Monthly growth rate: 12% (consistent with H1-26 actuals)</a:t>
            </a:r>
          </a:p>
          <a:p>
            <a:r>
              <a:rPr sz="1300"/>
              <a:t>  NRR: 118% (conservative vs 121% trailing 12-month)</a:t>
            </a:r>
          </a:p>
          <a:p>
            <a:r>
              <a:rPr sz="1300"/>
              <a:t>  Gross Margin expansion: 74% → 77% (infra optimisations)</a:t>
            </a:r>
          </a:p>
          <a:p>
            <a:r>
              <a:rPr sz="1300"/>
              <a:t>  Headcount: 89 → 138 FTEs by Dec-26 (38 net adds)</a:t>
            </a:r>
          </a:p>
          <a:p/>
          <a:p>
            <a:r>
              <a:rPr sz="1300"/>
              <a:t>Path to Profitability: EBITDA breakeven at $85M ARR (Q3-27)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/>
              <a:t>Key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Risk 1: Enterprise sales cycle lengthening</a:t>
            </a:r>
          </a:p>
          <a:p>
            <a:r>
              <a:rPr sz="1300"/>
              <a:t>  Mitigation: PLG motion for SMB; dedicated enterprise pods; RevOps tooling</a:t>
            </a:r>
          </a:p>
          <a:p/>
          <a:p>
            <a:r>
              <a:rPr sz="1300"/>
              <a:t>Risk 2: LLM API cost volatility (Claude, OpenAI)</a:t>
            </a:r>
          </a:p>
          <a:p>
            <a:r>
              <a:rPr sz="1300"/>
              <a:t>  Mitigation: Model agnosticism; local inference option for high-volume customers</a:t>
            </a:r>
          </a:p>
          <a:p/>
          <a:p>
            <a:r>
              <a:rPr sz="1300"/>
              <a:t>Risk 3: Data privacy regulation (EU AI Act, CCPA 2.0)</a:t>
            </a:r>
          </a:p>
          <a:p>
            <a:r>
              <a:rPr sz="1300"/>
              <a:t>  Mitigation: Privacy-by-design architecture; on-prem option; DPA templates ready</a:t>
            </a:r>
          </a:p>
          <a:p/>
          <a:p>
            <a:r>
              <a:rPr sz="1300"/>
              <a:t>Risk 4: Competitive pressure (Microsoft Copilot, Google NotebookLM)</a:t>
            </a:r>
          </a:p>
          <a:p>
            <a:r>
              <a:rPr sz="1300"/>
              <a:t>  Mitigation: Domain-specific fine-tuning; enterprise trust/compliance moat</a:t>
            </a:r>
          </a:p>
          <a:p/>
          <a:p>
            <a:r>
              <a:rPr sz="1300"/>
              <a:t>Risk 5: Key-person dependency (CTO, CRO new hires)</a:t>
            </a:r>
          </a:p>
          <a:p>
            <a:r>
              <a:rPr sz="1300"/>
              <a:t>  Mitigation: Equity retention packages; succession planning underway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/>
              <a:t>Board 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APPROVE Series B term sheet at $310M pre-money with a16z lead</a:t>
            </a:r>
          </a:p>
          <a:p>
            <a:r>
              <a:rPr sz="1300"/>
              <a:t>2. RATIFY use of proceeds allocation (40/35/15/10 split)</a:t>
            </a:r>
          </a:p>
          <a:p>
            <a:r>
              <a:rPr sz="1300"/>
              <a:t>3. APPROVE FY-26 budget amendment (+$4.2M for accelerated GTM hiring)</a:t>
            </a:r>
          </a:p>
          <a:p>
            <a:r>
              <a:rPr sz="1300"/>
              <a:t>4. ELECT new board member: Partner from a16z (seat approved in Series B term)</a:t>
            </a:r>
          </a:p>
          <a:p>
            <a:r>
              <a:rPr sz="1300"/>
              <a:t>5. REVIEW &amp; NOTE: FedRAMP Moderate assessment timeline (target: Q1-27)</a:t>
            </a:r>
          </a:p>
          <a:p/>
          <a:p>
            <a:r>
              <a:rPr sz="1300"/>
              <a:t>Next Board Meeting: August 19, 2026</a:t>
            </a:r>
          </a:p>
          <a:p>
            <a:r>
              <a:rPr sz="1300"/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